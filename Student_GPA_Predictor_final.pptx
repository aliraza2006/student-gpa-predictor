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29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push dir="u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5486400" cy="45719"/>
          </a:xfrm>
          <a:prstGeom prst="rect">
            <a:avLst/>
          </a:prstGeom>
          <a:solidFill>
            <a:srgbClr val="3B82F6"/>
          </a:solidFill>
          <a:ln w="31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Artificial Intelligence Project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GPA Predictor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Linear Regression &amp; 5-Fold Cross Validation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BCS-4D  |  Muhammad Ali Raza (24K-0794)  ·  Muhammad Sarim Hussain (24K-0861)  ·  Aakif Abrar Awan (24K-0889)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" y="182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" y="10058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" y="25146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performance depends on many factors — study habits, attendance, sleep, extracurriculars, and prior GPA. Understanding these relationships helps institutions support student success.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375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658368"/>
            <a:ext cx="5577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1568" y="768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13632" y="713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Preprocess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13632" y="9875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duplicates, encode categorical features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5577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0156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13632" y="1517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Relationships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13632" y="17922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Explore correlations between lifestyle factors and GPA via EDA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2267712"/>
            <a:ext cx="5577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0156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13632" y="2322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Linear Regression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13632" y="25968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 a predictive model on the cleaned academic dataset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3072384"/>
            <a:ext cx="5577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01568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13632" y="31272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Cross-Validation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13632" y="34015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5-Fold CV with R², MAE, and RMSE metrics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3877056"/>
            <a:ext cx="5577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01568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13632" y="3931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GPA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13632" y="42062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input system where students can enter their data</a:t>
            </a:r>
            <a:endParaRPr lang="en-US" sz="9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DATASET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Was Used?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377440" cy="3474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GPA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263347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Predicted College GPA as a continuous value, calculated using academic and lifestyle features through the regression model.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108960" y="118872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1508760"/>
            <a:ext cx="1810512" cy="932688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200253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Hours/Week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1508760"/>
            <a:ext cx="1810512" cy="932688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200253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49440" y="1508760"/>
            <a:ext cx="1810512" cy="932688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0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0" y="200253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08960" y="2578608"/>
            <a:ext cx="1810512" cy="932688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00400" y="30723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GPA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2578608"/>
            <a:ext cx="1810512" cy="932688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🏃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20640" y="30723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Extracurricular Activities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49440" y="2578608"/>
            <a:ext cx="1810512" cy="932688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4088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40880" y="30723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Job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3648456"/>
            <a:ext cx="1810512" cy="932688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00400" y="41422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Usage/Week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0" y="3648456"/>
            <a:ext cx="1810512" cy="932688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2064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120640" y="41422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Coursework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49440" y="3648456"/>
            <a:ext cx="1810512" cy="932688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4088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😴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040880" y="41422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Hours/Night</a:t>
            </a:r>
            <a:endParaRPr lang="en-US" sz="95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 PREPROCESSING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Preparing the Dataset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251960" cy="82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2618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1901952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columns filled with column mean. Categorical columns filled with mode (most frequent value). No data is lost.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4251960" cy="82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65192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2618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32120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65192" y="1901952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duplicate rows identified and removed using drop_duplicates(keep='first') to ensure data quality.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4251960" cy="82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1821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" y="34198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" y="3822192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Part-Time Job → Binary Encoding (0/1).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Major → One-Hot Encoding with drop_first to avoid multicollinearity.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301752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3017520"/>
            <a:ext cx="4251960" cy="82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65192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31821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34198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65192" y="3822192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normalized to zero mean and unit variance, so no single feature dominates the model due to scale differences.</a:t>
            </a:r>
            <a:endParaRPr lang="en-US" sz="95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EXPLORATORY DATA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093516" y="1132417"/>
            <a:ext cx="2872272" cy="3450575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26105" y="124214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26105" y="1713414"/>
            <a:ext cx="2618188" cy="4729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0969" y="171341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80969" y="1930314"/>
            <a:ext cx="21285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study hours→ higher GPA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AE5E722-0E4D-E8CF-918B-28D619D999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21" t="10446" r="16295" b="1860"/>
          <a:stretch>
            <a:fillRect/>
          </a:stretch>
        </p:blipFill>
        <p:spPr>
          <a:xfrm>
            <a:off x="333755" y="1132417"/>
            <a:ext cx="5532121" cy="3587325"/>
          </a:xfrm>
          <a:prstGeom prst="rect">
            <a:avLst/>
          </a:prstGeom>
          <a:ln w="28575" cap="sq">
            <a:solidFill>
              <a:srgbClr val="3B82F6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6" name="Shape 8">
            <a:extLst>
              <a:ext uri="{FF2B5EF4-FFF2-40B4-BE49-F238E27FC236}">
                <a16:creationId xmlns:a16="http://schemas.microsoft.com/office/drawing/2014/main" id="{01E0CEED-DD30-7A25-8892-9A6400F64BA6}"/>
              </a:ext>
            </a:extLst>
          </p:cNvPr>
          <p:cNvSpPr/>
          <p:nvPr/>
        </p:nvSpPr>
        <p:spPr>
          <a:xfrm>
            <a:off x="6226105" y="2260285"/>
            <a:ext cx="2618188" cy="4729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207CF21E-8C0B-FDAD-6D5E-683DB70595C5}"/>
              </a:ext>
            </a:extLst>
          </p:cNvPr>
          <p:cNvSpPr/>
          <p:nvPr/>
        </p:nvSpPr>
        <p:spPr>
          <a:xfrm>
            <a:off x="6280969" y="2260285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</a:rPr>
              <a:t>Attendance</a:t>
            </a:r>
            <a:r>
              <a:rPr lang="en-US" sz="1050" dirty="0">
                <a:solidFill>
                  <a:schemeClr val="bg1"/>
                </a:solidFill>
              </a:rPr>
              <a:t> Rate</a:t>
            </a: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89FA16BA-CC12-CA1B-181A-D3E2C4EECB8C}"/>
              </a:ext>
            </a:extLst>
          </p:cNvPr>
          <p:cNvSpPr/>
          <p:nvPr/>
        </p:nvSpPr>
        <p:spPr>
          <a:xfrm>
            <a:off x="6280969" y="2477185"/>
            <a:ext cx="2219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attendance → higher GPA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F17B967D-4A73-0EE2-65FC-207367D52287}"/>
              </a:ext>
            </a:extLst>
          </p:cNvPr>
          <p:cNvSpPr/>
          <p:nvPr/>
        </p:nvSpPr>
        <p:spPr>
          <a:xfrm>
            <a:off x="6226104" y="2821948"/>
            <a:ext cx="2618189" cy="4729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344B1F76-25DC-177B-294E-1EF815D20538}"/>
              </a:ext>
            </a:extLst>
          </p:cNvPr>
          <p:cNvSpPr/>
          <p:nvPr/>
        </p:nvSpPr>
        <p:spPr>
          <a:xfrm>
            <a:off x="6280969" y="28219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Online </a:t>
            </a:r>
            <a:r>
              <a:rPr lang="en-US" sz="1050" b="1" dirty="0">
                <a:solidFill>
                  <a:schemeClr val="bg1"/>
                </a:solidFill>
              </a:rPr>
              <a:t>Coursework</a:t>
            </a:r>
            <a:r>
              <a:rPr lang="en-US" sz="1050" dirty="0">
                <a:solidFill>
                  <a:schemeClr val="bg1"/>
                </a:solidFill>
              </a:rPr>
              <a:t> Engagement</a:t>
            </a: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969D9889-0D90-BD6B-DB01-AE35CC4DCFDB}"/>
              </a:ext>
            </a:extLst>
          </p:cNvPr>
          <p:cNvSpPr/>
          <p:nvPr/>
        </p:nvSpPr>
        <p:spPr>
          <a:xfrm>
            <a:off x="6280969" y="3038848"/>
            <a:ext cx="2491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Higher online coursework engagement → higher GPA</a:t>
            </a:r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38456EC6-07C8-4EA9-A503-E1EBB2F6C305}"/>
              </a:ext>
            </a:extLst>
          </p:cNvPr>
          <p:cNvSpPr/>
          <p:nvPr/>
        </p:nvSpPr>
        <p:spPr>
          <a:xfrm>
            <a:off x="6226104" y="3368819"/>
            <a:ext cx="2618189" cy="47293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14801D2E-45DA-6BF7-8FE2-833F5BEBBA2B}"/>
              </a:ext>
            </a:extLst>
          </p:cNvPr>
          <p:cNvSpPr/>
          <p:nvPr/>
        </p:nvSpPr>
        <p:spPr>
          <a:xfrm>
            <a:off x="6280969" y="3368819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High School GPA</a:t>
            </a:r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5E8F902A-A649-488A-74F4-0E36710F3FF9}"/>
              </a:ext>
            </a:extLst>
          </p:cNvPr>
          <p:cNvSpPr/>
          <p:nvPr/>
        </p:nvSpPr>
        <p:spPr>
          <a:xfrm>
            <a:off x="6280969" y="3585719"/>
            <a:ext cx="2219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attendance → higher GPA</a:t>
            </a:r>
            <a:endParaRPr 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98BAEA1E-A8DD-424A-593C-E3A4357922B2}"/>
              </a:ext>
            </a:extLst>
          </p:cNvPr>
          <p:cNvSpPr/>
          <p:nvPr/>
        </p:nvSpPr>
        <p:spPr>
          <a:xfrm>
            <a:off x="6226105" y="3924376"/>
            <a:ext cx="2618189" cy="546871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C0C2CC9B-DD90-9837-632C-3B8BA661B705}"/>
              </a:ext>
            </a:extLst>
          </p:cNvPr>
          <p:cNvSpPr/>
          <p:nvPr/>
        </p:nvSpPr>
        <p:spPr>
          <a:xfrm>
            <a:off x="6280970" y="392437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Other factors</a:t>
            </a: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4FC1CC49-9EEA-664F-056B-FD4BEFCEA0D6}"/>
              </a:ext>
            </a:extLst>
          </p:cNvPr>
          <p:cNvSpPr/>
          <p:nvPr/>
        </p:nvSpPr>
        <p:spPr>
          <a:xfrm>
            <a:off x="6280970" y="4141277"/>
            <a:ext cx="22198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Other factors like sleep, extracurricular, library usage doesn’t affect the GPA too much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Analysis — Outlier Detection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760720" cy="3703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1078992"/>
            <a:ext cx="2542032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37376" y="143771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1362072"/>
            <a:ext cx="2039815" cy="288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sz="900" dirty="0"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900" dirty="0">
                <a:latin typeface="Arial" panose="020B0604020202020204" pitchFamily="34" charset="0"/>
              </a:rPr>
              <a:t>Most features show balanced distribution with minimal outliers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900" dirty="0">
                <a:latin typeface="Arial" panose="020B0604020202020204" pitchFamily="34" charset="0"/>
              </a:rPr>
              <a:t>Study habits and attendance vary across students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900" dirty="0">
                <a:latin typeface="Arial" panose="020B0604020202020204" pitchFamily="34" charset="0"/>
              </a:rPr>
              <a:t>Sleep patterns remain relatively consistent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900" dirty="0">
                <a:latin typeface="Arial" panose="020B0604020202020204" pitchFamily="34" charset="0"/>
              </a:rPr>
              <a:t>College GPA shows slight variation with few mild outliers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900" dirty="0">
                <a:latin typeface="Arial" panose="020B0604020202020204" pitchFamily="34" charset="0"/>
              </a:rPr>
              <a:t>Box plots helped understand spread and data distribution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900" dirty="0">
                <a:latin typeface="Arial" panose="020B0604020202020204" pitchFamily="34" charset="0"/>
              </a:rPr>
              <a:t>Outliers in College GPA were not removed as it is the target variable, preserving model accuracy and real-world prediction capability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8771392-46EB-A7DC-CE19-74AD76411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62456"/>
            <a:ext cx="5610196" cy="313880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MODEL SELECTION &amp;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+ 5-Fold Cross Validation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1" y="1143000"/>
            <a:ext cx="3154680" cy="596278"/>
          </a:xfrm>
          <a:prstGeom prst="rect">
            <a:avLst/>
          </a:prstGeom>
          <a:solidFill>
            <a:srgbClr val="15223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1" y="1170432"/>
            <a:ext cx="2887074" cy="284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β₀ + β₁x₁ + β₂x₂ + ... + βₙxₙ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6883" y="1406258"/>
            <a:ext cx="30376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Predicted GPA    x = Features    β = Model Coefficients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206240" y="1143000"/>
            <a:ext cx="3154680" cy="86868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97680" y="1188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Regression?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14630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1"/>
                </a:solidFill>
              </a:rPr>
              <a:t>Target (GPA) is continuous, easy to interpret, and ideal for regression tasks.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 PROCESS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49396" y="2596896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55142" y="2593315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Each fold uses 4 parts for training and 1 part for testing, repeated 5 times for reliable evaluation.</a:t>
            </a:r>
          </a:p>
        </p:txBody>
      </p:sp>
      <p:sp>
        <p:nvSpPr>
          <p:cNvPr id="26" name="Shape 24"/>
          <p:cNvSpPr/>
          <p:nvPr/>
        </p:nvSpPr>
        <p:spPr>
          <a:xfrm>
            <a:off x="480060" y="3540902"/>
            <a:ext cx="2651760" cy="1261872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7220" y="361926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404164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3547872"/>
            <a:ext cx="2651760" cy="1261872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29000" y="361926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i="1" dirty="0">
                <a:solidFill>
                  <a:schemeClr val="bg1"/>
                </a:solidFill>
              </a:rPr>
              <a:t>Mean Absolute Error</a:t>
            </a:r>
            <a:endParaRPr lang="en-US" sz="1300" b="1" i="1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3429000" y="3976170"/>
            <a:ext cx="2331720" cy="62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1"/>
                </a:solidFill>
              </a:rPr>
              <a:t>Shows on average how many GPA points your predictions are off (e.g., 0.3 means you’re off by 0.3 GPA units on average).</a:t>
            </a:r>
          </a:p>
        </p:txBody>
      </p:sp>
      <p:sp>
        <p:nvSpPr>
          <p:cNvPr id="34" name="Shape 32"/>
          <p:cNvSpPr/>
          <p:nvPr/>
        </p:nvSpPr>
        <p:spPr>
          <a:xfrm>
            <a:off x="6126480" y="3547872"/>
            <a:ext cx="2651760" cy="1261872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63640" y="361926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63640" y="3945029"/>
            <a:ext cx="2423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1"/>
                </a:solidFill>
              </a:rPr>
              <a:t>Like MAE but penalizes big mistakes more. If RMSE is higher than MAE, it means your model sometimes makes large prediction errors.</a:t>
            </a: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551F148-14D9-CA48-C99E-0052D06A5C06}"/>
              </a:ext>
            </a:extLst>
          </p:cNvPr>
          <p:cNvSpPr/>
          <p:nvPr/>
        </p:nvSpPr>
        <p:spPr>
          <a:xfrm>
            <a:off x="617220" y="3971952"/>
            <a:ext cx="2331720" cy="62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chemeClr val="bg1"/>
                </a:solidFill>
              </a:rPr>
              <a:t>Tells how well your features (study hours, attendance, etc.) explain GPA.</a:t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Example: R² = 0.80 means your model explains 80% of GPA variation using your input features.</a:t>
            </a:r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5CE1A1D7-26D3-8C5D-7CD5-5609C286670B}"/>
              </a:ext>
            </a:extLst>
          </p:cNvPr>
          <p:cNvSpPr/>
          <p:nvPr/>
        </p:nvSpPr>
        <p:spPr>
          <a:xfrm>
            <a:off x="457200" y="2596896"/>
            <a:ext cx="937260" cy="329184"/>
          </a:xfrm>
          <a:prstGeom prst="rect">
            <a:avLst/>
          </a:prstGeom>
          <a:solidFill>
            <a:srgbClr val="15223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62DDBECA-9872-149B-3A2C-9724A0A93660}"/>
              </a:ext>
            </a:extLst>
          </p:cNvPr>
          <p:cNvSpPr/>
          <p:nvPr/>
        </p:nvSpPr>
        <p:spPr>
          <a:xfrm>
            <a:off x="486918" y="2639131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100" dirty="0"/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5A9EA04F-CB9E-F9F6-99E2-4E407BC2579F}"/>
              </a:ext>
            </a:extLst>
          </p:cNvPr>
          <p:cNvSpPr/>
          <p:nvPr/>
        </p:nvSpPr>
        <p:spPr>
          <a:xfrm>
            <a:off x="1673928" y="2575890"/>
            <a:ext cx="937260" cy="329184"/>
          </a:xfrm>
          <a:prstGeom prst="rect">
            <a:avLst/>
          </a:prstGeom>
          <a:solidFill>
            <a:srgbClr val="15223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273381DA-7535-4F6C-E169-8CD98E37E7FF}"/>
              </a:ext>
            </a:extLst>
          </p:cNvPr>
          <p:cNvSpPr/>
          <p:nvPr/>
        </p:nvSpPr>
        <p:spPr>
          <a:xfrm>
            <a:off x="1703646" y="2618125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100" dirty="0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085B83A6-B29F-8163-3482-484702E20317}"/>
              </a:ext>
            </a:extLst>
          </p:cNvPr>
          <p:cNvSpPr/>
          <p:nvPr/>
        </p:nvSpPr>
        <p:spPr>
          <a:xfrm>
            <a:off x="2885508" y="2574725"/>
            <a:ext cx="937260" cy="329184"/>
          </a:xfrm>
          <a:prstGeom prst="rect">
            <a:avLst/>
          </a:prstGeom>
          <a:solidFill>
            <a:srgbClr val="15223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88730E6B-093C-A203-D538-52C5C4D9CE22}"/>
              </a:ext>
            </a:extLst>
          </p:cNvPr>
          <p:cNvSpPr/>
          <p:nvPr/>
        </p:nvSpPr>
        <p:spPr>
          <a:xfrm>
            <a:off x="2915226" y="261696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100" dirty="0"/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DCC9CD6C-D4CB-6E3A-D048-805252E70EEE}"/>
              </a:ext>
            </a:extLst>
          </p:cNvPr>
          <p:cNvSpPr/>
          <p:nvPr/>
        </p:nvSpPr>
        <p:spPr>
          <a:xfrm>
            <a:off x="4085658" y="2597663"/>
            <a:ext cx="937260" cy="329184"/>
          </a:xfrm>
          <a:prstGeom prst="rect">
            <a:avLst/>
          </a:prstGeom>
          <a:solidFill>
            <a:srgbClr val="15223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21D12947-F103-F498-3823-2D2834093276}"/>
              </a:ext>
            </a:extLst>
          </p:cNvPr>
          <p:cNvSpPr/>
          <p:nvPr/>
        </p:nvSpPr>
        <p:spPr>
          <a:xfrm>
            <a:off x="4115376" y="263989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100" dirty="0"/>
          </a:p>
        </p:txBody>
      </p:sp>
      <p:sp>
        <p:nvSpPr>
          <p:cNvPr id="58" name="Shape 9">
            <a:extLst>
              <a:ext uri="{FF2B5EF4-FFF2-40B4-BE49-F238E27FC236}">
                <a16:creationId xmlns:a16="http://schemas.microsoft.com/office/drawing/2014/main" id="{1D77B305-F08B-E3F6-EA8A-A64D891D424F}"/>
              </a:ext>
            </a:extLst>
          </p:cNvPr>
          <p:cNvSpPr/>
          <p:nvPr/>
        </p:nvSpPr>
        <p:spPr>
          <a:xfrm>
            <a:off x="5257353" y="2580526"/>
            <a:ext cx="93726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A4C434FD-9F25-8F79-895F-674FE34EBD07}"/>
              </a:ext>
            </a:extLst>
          </p:cNvPr>
          <p:cNvSpPr/>
          <p:nvPr/>
        </p:nvSpPr>
        <p:spPr>
          <a:xfrm>
            <a:off x="5287071" y="2622761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100" dirty="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341CC39A-7A49-D197-2191-00CB5DAE24BC}"/>
              </a:ext>
            </a:extLst>
          </p:cNvPr>
          <p:cNvSpPr/>
          <p:nvPr/>
        </p:nvSpPr>
        <p:spPr>
          <a:xfrm>
            <a:off x="3862773" y="2565979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95BFF8BB-99AC-706A-8FE8-4BACB7BB27CB}"/>
              </a:ext>
            </a:extLst>
          </p:cNvPr>
          <p:cNvSpPr/>
          <p:nvPr/>
        </p:nvSpPr>
        <p:spPr>
          <a:xfrm>
            <a:off x="5051493" y="2593315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MODEL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Predictive Accuracy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3347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33472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719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Mean R² 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0116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30352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98.49% variance explained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3347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33472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64992" y="1719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Mean MAE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20116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364992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of just ~0.02 GPA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63347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1097280"/>
            <a:ext cx="263347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963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99632" y="1719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Mean RMSE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20116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0.0548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199632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Very low penalty on large errors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383280"/>
            <a:ext cx="830275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2920" y="3538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381304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achieved R² = 0.9849, meaning it explains </a:t>
            </a: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98.49% of the variation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College GPA. With a Mean Absolute Error of just </a:t>
            </a: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 GPA points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model predicts student GPA with remarkable accuracy. These results demonstrate that academic and lifestyle factors are strong indicators of college performance.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PREDICTION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Students Use the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INPUTS →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2004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Study Hours per Week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4023360" cy="32004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Attendance Rate (%)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03704"/>
            <a:ext cx="4023360" cy="32004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203704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Major (Business/Science/Arts/Engineering)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4023360" cy="32004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596896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High School GPA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990088"/>
            <a:ext cx="4023360" cy="32004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990088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Extracurricular Activities (count)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4023360" cy="32004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383280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Part-Time Job (Yes/No)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776472"/>
            <a:ext cx="4023360" cy="32004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776472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Library Usage per Week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169664"/>
            <a:ext cx="4023360" cy="32004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4169664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Online Coursework Hours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562856"/>
            <a:ext cx="4023360" cy="32004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4562856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Sleep Hours per Night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17720" y="21031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</a:rPr>
              <a:t>→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5284976" y="1209294"/>
            <a:ext cx="3507332" cy="2793492"/>
          </a:xfrm>
          <a:prstGeom prst="rect">
            <a:avLst/>
          </a:prstGeom>
          <a:solidFill>
            <a:srgbClr val="15223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49240" y="1234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16002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🎓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5349240" y="2651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GPA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9240" y="3337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3.72 / 4.0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CONCLUSION &amp;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Next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9049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7315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GPA predictor using Linear Regression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7315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98.49% R² score — very high accuracy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798064"/>
            <a:ext cx="7315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7980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habits, attendance &amp; high school GPA are the strongest predictors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419856"/>
            <a:ext cx="7315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4198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EDA proved essential for model quality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041648"/>
            <a:ext cx="7315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 ensured reliable, unbiased evaluation</a:t>
            </a:r>
            <a:endParaRPr lang="en-US" sz="95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 USED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1856232"/>
            <a:ext cx="1280160" cy="91440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901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414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856232"/>
            <a:ext cx="1280160" cy="91440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901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2414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0" y="1856232"/>
            <a:ext cx="1280160" cy="91440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0" y="1901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31920" y="2414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1856232"/>
            <a:ext cx="1280160" cy="91440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94960" y="1901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94960" y="2414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0" y="1853035"/>
            <a:ext cx="1280160" cy="914400"/>
          </a:xfrm>
          <a:prstGeom prst="rect">
            <a:avLst/>
          </a:prstGeom>
          <a:solidFill>
            <a:srgbClr val="152232"/>
          </a:solidFill>
          <a:ln w="12700">
            <a:solidFill>
              <a:srgbClr val="1E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0" y="1898755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2410819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BCS-4D  |  Muhammad Ali Raza · Muhammad Sarim Hussain · Aakif Abrar Awan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905</Words>
  <Application>Microsoft Office PowerPoint</Application>
  <PresentationFormat>On-screen Show (16:9)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GPA Predictor – Project Report</dc:title>
  <dc:subject>PptxGenJS Presentation</dc:subject>
  <dc:creator>PptxGenJS</dc:creator>
  <cp:lastModifiedBy>Ali Raza</cp:lastModifiedBy>
  <cp:revision>5</cp:revision>
  <dcterms:created xsi:type="dcterms:W3CDTF">2026-04-27T13:58:07Z</dcterms:created>
  <dcterms:modified xsi:type="dcterms:W3CDTF">2026-04-27T16:29:45Z</dcterms:modified>
</cp:coreProperties>
</file>